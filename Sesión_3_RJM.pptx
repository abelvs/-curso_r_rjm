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2" r:id="rId4"/>
    <p:sldId id="267" r:id="rId5"/>
    <p:sldId id="268" r:id="rId6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8D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09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6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E14E-3399-4729-9487-008C58F41F51}" type="datetimeFigureOut">
              <a:rPr lang="es-MX" smtClean="0"/>
              <a:t>18/12/2025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4CA6-9F73-4A6D-BC4D-1B760B372A0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265399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E14E-3399-4729-9487-008C58F41F51}" type="datetimeFigureOut">
              <a:rPr lang="es-MX" smtClean="0"/>
              <a:t>18/12/2025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4CA6-9F73-4A6D-BC4D-1B760B372A0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13427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E14E-3399-4729-9487-008C58F41F51}" type="datetimeFigureOut">
              <a:rPr lang="es-MX" smtClean="0"/>
              <a:t>18/12/2025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4CA6-9F73-4A6D-BC4D-1B760B372A0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760764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E14E-3399-4729-9487-008C58F41F51}" type="datetimeFigureOut">
              <a:rPr lang="es-MX" smtClean="0"/>
              <a:t>18/12/2025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4CA6-9F73-4A6D-BC4D-1B760B372A0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75880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E14E-3399-4729-9487-008C58F41F51}" type="datetimeFigureOut">
              <a:rPr lang="es-MX" smtClean="0"/>
              <a:t>18/12/2025</a:t>
            </a:fld>
            <a:endParaRPr lang="es-MX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4CA6-9F73-4A6D-BC4D-1B760B372A0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054293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E14E-3399-4729-9487-008C58F41F51}" type="datetimeFigureOut">
              <a:rPr lang="es-MX" smtClean="0"/>
              <a:t>18/12/2025</a:t>
            </a:fld>
            <a:endParaRPr lang="es-MX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4CA6-9F73-4A6D-BC4D-1B760B372A0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979331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E14E-3399-4729-9487-008C58F41F51}" type="datetimeFigureOut">
              <a:rPr lang="es-MX" smtClean="0"/>
              <a:t>18/12/2025</a:t>
            </a:fld>
            <a:endParaRPr lang="es-MX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4CA6-9F73-4A6D-BC4D-1B760B372A0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877404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E14E-3399-4729-9487-008C58F41F51}" type="datetimeFigureOut">
              <a:rPr lang="es-MX" smtClean="0"/>
              <a:t>18/12/2025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4CA6-9F73-4A6D-BC4D-1B760B372A0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337305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E14E-3399-4729-9487-008C58F41F51}" type="datetimeFigureOut">
              <a:rPr lang="es-MX" smtClean="0"/>
              <a:t>18/12/2025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4CA6-9F73-4A6D-BC4D-1B760B372A0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091867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E14E-3399-4729-9487-008C58F41F51}" type="datetimeFigureOut">
              <a:rPr lang="es-MX" smtClean="0"/>
              <a:t>18/12/2025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4CA6-9F73-4A6D-BC4D-1B760B372A0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92038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E14E-3399-4729-9487-008C58F41F51}" type="datetimeFigureOut">
              <a:rPr lang="es-MX" smtClean="0"/>
              <a:t>18/12/2025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4CA6-9F73-4A6D-BC4D-1B760B372A0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060063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61000" b="-6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75E14E-3399-4729-9487-008C58F41F51}" type="datetimeFigureOut">
              <a:rPr lang="es-MX" smtClean="0"/>
              <a:t>18/12/2025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704CA6-9F73-4A6D-BC4D-1B760B372A0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56896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1000" b="-6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 smtClean="0">
                <a:latin typeface="Consolas" panose="020B0609020204030204" pitchFamily="49" charset="0"/>
              </a:rPr>
              <a:t>Introducción a R</a:t>
            </a:r>
            <a:endParaRPr lang="es-MX" dirty="0">
              <a:latin typeface="Consolas" panose="020B0609020204030204" pitchFamily="49" charset="0"/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 dirty="0" smtClean="0">
                <a:solidFill>
                  <a:schemeClr val="bg2"/>
                </a:solidFill>
                <a:latin typeface="Consolas" panose="020B0609020204030204" pitchFamily="49" charset="0"/>
              </a:rPr>
              <a:t>Sesión 2</a:t>
            </a:r>
            <a:endParaRPr lang="es-MX" dirty="0">
              <a:solidFill>
                <a:schemeClr val="bg2"/>
              </a:solidFill>
              <a:latin typeface="Consolas" panose="020B0609020204030204" pitchFamily="49" charset="0"/>
            </a:endParaRPr>
          </a:p>
        </p:txBody>
      </p:sp>
      <p:grpSp>
        <p:nvGrpSpPr>
          <p:cNvPr id="9" name="Grupo 8"/>
          <p:cNvGrpSpPr/>
          <p:nvPr/>
        </p:nvGrpSpPr>
        <p:grpSpPr>
          <a:xfrm>
            <a:off x="-9525" y="5135376"/>
            <a:ext cx="2033179" cy="1630683"/>
            <a:chOff x="0" y="5183001"/>
            <a:chExt cx="2033179" cy="1630683"/>
          </a:xfrm>
        </p:grpSpPr>
        <p:sp>
          <p:nvSpPr>
            <p:cNvPr id="7" name="Forma libre 6"/>
            <p:cNvSpPr/>
            <p:nvPr/>
          </p:nvSpPr>
          <p:spPr>
            <a:xfrm>
              <a:off x="1095676" y="5407025"/>
              <a:ext cx="818147" cy="991402"/>
            </a:xfrm>
            <a:custGeom>
              <a:avLst/>
              <a:gdLst>
                <a:gd name="connsiteX0" fmla="*/ 38501 w 818147"/>
                <a:gd name="connsiteY0" fmla="*/ 0 h 991402"/>
                <a:gd name="connsiteX1" fmla="*/ 818147 w 818147"/>
                <a:gd name="connsiteY1" fmla="*/ 375386 h 991402"/>
                <a:gd name="connsiteX2" fmla="*/ 818147 w 818147"/>
                <a:gd name="connsiteY2" fmla="*/ 991402 h 991402"/>
                <a:gd name="connsiteX3" fmla="*/ 442762 w 818147"/>
                <a:gd name="connsiteY3" fmla="*/ 789272 h 991402"/>
                <a:gd name="connsiteX4" fmla="*/ 375385 w 818147"/>
                <a:gd name="connsiteY4" fmla="*/ 760396 h 991402"/>
                <a:gd name="connsiteX5" fmla="*/ 0 w 818147"/>
                <a:gd name="connsiteY5" fmla="*/ 577516 h 991402"/>
                <a:gd name="connsiteX6" fmla="*/ 38501 w 818147"/>
                <a:gd name="connsiteY6" fmla="*/ 0 h 991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8147" h="991402">
                  <a:moveTo>
                    <a:pt x="38501" y="0"/>
                  </a:moveTo>
                  <a:lnTo>
                    <a:pt x="818147" y="375386"/>
                  </a:lnTo>
                  <a:lnTo>
                    <a:pt x="818147" y="991402"/>
                  </a:lnTo>
                  <a:lnTo>
                    <a:pt x="442762" y="789272"/>
                  </a:lnTo>
                  <a:lnTo>
                    <a:pt x="375385" y="760396"/>
                  </a:lnTo>
                  <a:lnTo>
                    <a:pt x="0" y="577516"/>
                  </a:lnTo>
                  <a:lnTo>
                    <a:pt x="38501" y="0"/>
                  </a:lnTo>
                  <a:close/>
                </a:path>
              </a:pathLst>
            </a:cu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pic>
          <p:nvPicPr>
            <p:cNvPr id="4" name="Imagen 3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7799" y="5183001"/>
              <a:ext cx="1865380" cy="1630683"/>
            </a:xfrm>
            <a:prstGeom prst="rect">
              <a:avLst/>
            </a:prstGeom>
          </p:spPr>
        </p:pic>
        <p:pic>
          <p:nvPicPr>
            <p:cNvPr id="8" name="Imagen 7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08"/>
            <a:stretch/>
          </p:blipFill>
          <p:spPr>
            <a:xfrm>
              <a:off x="0" y="5554095"/>
              <a:ext cx="1932873" cy="85039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40768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8D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>
                <a:latin typeface="Consolas" panose="020B0609020204030204" pitchFamily="49" charset="0"/>
              </a:rPr>
              <a:t>Objetivos del día</a:t>
            </a:r>
            <a:endParaRPr lang="es-MX" dirty="0">
              <a:latin typeface="Consolas" panose="020B0609020204030204" pitchFamily="49" charset="0"/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514475"/>
            <a:ext cx="10229850" cy="5172075"/>
          </a:xfrm>
        </p:spPr>
        <p:txBody>
          <a:bodyPr numCol="2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s-MX" sz="2000" b="1" dirty="0" err="1" smtClean="0">
                <a:solidFill>
                  <a:schemeClr val="accent2"/>
                </a:solidFill>
                <a:latin typeface="Consolas" panose="020B0609020204030204" pitchFamily="49" charset="0"/>
              </a:rPr>
              <a:t>Recap</a:t>
            </a:r>
            <a:r>
              <a:rPr lang="es-MX" sz="2000" b="1" dirty="0" smtClean="0">
                <a:solidFill>
                  <a:schemeClr val="accent2"/>
                </a:solidFill>
                <a:latin typeface="Consolas" panose="020B0609020204030204" pitchFamily="49" charset="0"/>
              </a:rPr>
              <a:t>: Manipulación básica</a:t>
            </a:r>
          </a:p>
          <a:p>
            <a:pPr lvl="1"/>
            <a:r>
              <a:rPr lang="es-MX" sz="1800" dirty="0" err="1" smtClean="0">
                <a:latin typeface="Consolas" panose="020B0609020204030204" pitchFamily="49" charset="0"/>
              </a:rPr>
              <a:t>Filter</a:t>
            </a:r>
            <a:r>
              <a:rPr lang="es-MX" sz="1800" dirty="0" smtClean="0">
                <a:latin typeface="Consolas" panose="020B0609020204030204" pitchFamily="49" charset="0"/>
              </a:rPr>
              <a:t>(), </a:t>
            </a:r>
            <a:r>
              <a:rPr lang="es-MX" sz="1800" dirty="0" err="1" smtClean="0">
                <a:latin typeface="Consolas" panose="020B0609020204030204" pitchFamily="49" charset="0"/>
              </a:rPr>
              <a:t>mutate</a:t>
            </a:r>
            <a:r>
              <a:rPr lang="es-MX" sz="1800" dirty="0" smtClean="0">
                <a:latin typeface="Consolas" panose="020B0609020204030204" pitchFamily="49" charset="0"/>
              </a:rPr>
              <a:t>(), </a:t>
            </a:r>
            <a:r>
              <a:rPr lang="es-MX" sz="1800" dirty="0" err="1" smtClean="0">
                <a:latin typeface="Consolas" panose="020B0609020204030204" pitchFamily="49" charset="0"/>
              </a:rPr>
              <a:t>select</a:t>
            </a:r>
            <a:r>
              <a:rPr lang="es-MX" sz="1800" dirty="0" smtClean="0">
                <a:latin typeface="Consolas" panose="020B0609020204030204" pitchFamily="49" charset="0"/>
              </a:rPr>
              <a:t>(), </a:t>
            </a:r>
            <a:r>
              <a:rPr lang="es-MX" sz="1800" dirty="0" err="1" smtClean="0">
                <a:latin typeface="Consolas" panose="020B0609020204030204" pitchFamily="49" charset="0"/>
              </a:rPr>
              <a:t>group_by</a:t>
            </a:r>
            <a:r>
              <a:rPr lang="es-MX" sz="1800" dirty="0" smtClean="0">
                <a:latin typeface="Consolas" panose="020B0609020204030204" pitchFamily="49" charset="0"/>
              </a:rPr>
              <a:t>()</a:t>
            </a:r>
            <a:endParaRPr lang="es-MX" sz="1800" dirty="0">
              <a:latin typeface="Consolas" panose="020B0609020204030204" pitchFamily="49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s-MX" sz="2000" b="1" dirty="0" smtClean="0">
                <a:solidFill>
                  <a:schemeClr val="accent2"/>
                </a:solidFill>
                <a:latin typeface="Consolas" panose="020B0609020204030204" pitchFamily="49" charset="0"/>
              </a:rPr>
              <a:t>Entorno</a:t>
            </a:r>
          </a:p>
          <a:p>
            <a:pPr lvl="1"/>
            <a:r>
              <a:rPr lang="es-MX" sz="1800" dirty="0" smtClean="0">
                <a:latin typeface="Consolas" panose="020B0609020204030204" pitchFamily="49" charset="0"/>
              </a:rPr>
              <a:t>Repo </a:t>
            </a:r>
            <a:r>
              <a:rPr lang="es-MX" sz="1800" dirty="0" err="1" smtClean="0">
                <a:latin typeface="Consolas" panose="020B0609020204030204" pitchFamily="49" charset="0"/>
              </a:rPr>
              <a:t>Github</a:t>
            </a:r>
            <a:endParaRPr lang="es-MX" sz="1800" dirty="0" smtClean="0">
              <a:latin typeface="Consolas" panose="020B0609020204030204" pitchFamily="49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s-MX" sz="2000" b="1" i="1" dirty="0" err="1" smtClean="0">
                <a:solidFill>
                  <a:schemeClr val="accent2"/>
                </a:solidFill>
                <a:latin typeface="Consolas" panose="020B0609020204030204" pitchFamily="49" charset="0"/>
              </a:rPr>
              <a:t>Tidyverse</a:t>
            </a:r>
            <a:endParaRPr lang="es-MX" sz="2000" b="1" i="1" dirty="0" smtClean="0">
              <a:solidFill>
                <a:schemeClr val="accent2"/>
              </a:solidFill>
              <a:latin typeface="Consolas" panose="020B0609020204030204" pitchFamily="49" charset="0"/>
            </a:endParaRPr>
          </a:p>
          <a:p>
            <a:pPr lvl="1"/>
            <a:r>
              <a:rPr lang="es-MX" sz="1800" dirty="0" err="1" smtClean="0">
                <a:latin typeface="Consolas" panose="020B0609020204030204" pitchFamily="49" charset="0"/>
              </a:rPr>
              <a:t>Joins</a:t>
            </a:r>
            <a:endParaRPr lang="es-MX" sz="1800" dirty="0">
              <a:latin typeface="Consolas" panose="020B0609020204030204" pitchFamily="49" charset="0"/>
            </a:endParaRPr>
          </a:p>
          <a:p>
            <a:pPr lvl="1"/>
            <a:r>
              <a:rPr lang="es-MX" sz="1800" dirty="0" err="1" smtClean="0">
                <a:latin typeface="Consolas" panose="020B0609020204030204" pitchFamily="49" charset="0"/>
              </a:rPr>
              <a:t>Group</a:t>
            </a:r>
            <a:r>
              <a:rPr lang="es-MX" sz="1800" dirty="0" smtClean="0">
                <a:latin typeface="Consolas" panose="020B0609020204030204" pitchFamily="49" charset="0"/>
              </a:rPr>
              <a:t> </a:t>
            </a:r>
            <a:r>
              <a:rPr lang="es-MX" sz="1800" dirty="0" err="1" smtClean="0">
                <a:latin typeface="Consolas" panose="020B0609020204030204" pitchFamily="49" charset="0"/>
              </a:rPr>
              <a:t>by</a:t>
            </a:r>
            <a:r>
              <a:rPr lang="es-MX" sz="1800" dirty="0" smtClean="0">
                <a:latin typeface="Consolas" panose="020B0609020204030204" pitchFamily="49" charset="0"/>
              </a:rPr>
              <a:t> </a:t>
            </a:r>
            <a:r>
              <a:rPr lang="es-MX" sz="1800" dirty="0" err="1" smtClean="0">
                <a:latin typeface="Consolas" panose="020B0609020204030204" pitchFamily="49" charset="0"/>
              </a:rPr>
              <a:t>multiples</a:t>
            </a:r>
            <a:endParaRPr lang="es-MX" sz="1800" dirty="0" smtClean="0">
              <a:latin typeface="Consolas" panose="020B0609020204030204" pitchFamily="49" charset="0"/>
            </a:endParaRPr>
          </a:p>
          <a:p>
            <a:pPr lvl="1"/>
            <a:r>
              <a:rPr lang="es-MX" sz="1800" dirty="0" smtClean="0">
                <a:latin typeface="Consolas" panose="020B0609020204030204" pitchFamily="49" charset="0"/>
              </a:rPr>
              <a:t>Pivoteo</a:t>
            </a:r>
          </a:p>
          <a:p>
            <a:pPr marL="514350" indent="-514350">
              <a:buFont typeface="+mj-lt"/>
              <a:buAutoNum type="arabicPeriod"/>
            </a:pPr>
            <a:r>
              <a:rPr lang="es-MX" sz="2000" b="1" dirty="0" smtClean="0">
                <a:solidFill>
                  <a:schemeClr val="accent2"/>
                </a:solidFill>
                <a:latin typeface="Consolas" panose="020B0609020204030204" pitchFamily="49" charset="0"/>
              </a:rPr>
              <a:t>Flujo de trabajo completo</a:t>
            </a:r>
          </a:p>
          <a:p>
            <a:pPr lvl="1"/>
            <a:r>
              <a:rPr lang="es-MX" sz="1800" dirty="0">
                <a:latin typeface="Consolas" panose="020B0609020204030204" pitchFamily="49" charset="0"/>
              </a:rPr>
              <a:t>Diseño de </a:t>
            </a:r>
            <a:r>
              <a:rPr lang="es-MX" sz="1800" i="1" dirty="0">
                <a:latin typeface="Consolas" panose="020B0609020204030204" pitchFamily="49" charset="0"/>
              </a:rPr>
              <a:t>pipeline</a:t>
            </a:r>
          </a:p>
          <a:p>
            <a:pPr lvl="1"/>
            <a:r>
              <a:rPr lang="es-MX" sz="1800" dirty="0" smtClean="0">
                <a:latin typeface="Consolas" panose="020B0609020204030204" pitchFamily="49" charset="0"/>
              </a:rPr>
              <a:t>Reproductibilidad</a:t>
            </a:r>
          </a:p>
          <a:p>
            <a:pPr marL="514350" indent="-514350">
              <a:buFont typeface="+mj-lt"/>
              <a:buAutoNum type="arabicPeriod"/>
            </a:pPr>
            <a:endParaRPr lang="es-MX" sz="1600" dirty="0">
              <a:solidFill>
                <a:schemeClr val="accent2"/>
              </a:solidFill>
            </a:endParaRPr>
          </a:p>
          <a:p>
            <a:pPr marL="514350" indent="-514350">
              <a:buFont typeface="+mj-lt"/>
              <a:buAutoNum type="arabicPeriod"/>
            </a:pPr>
            <a:endParaRPr lang="es-MX" dirty="0" smtClean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28" b="31536"/>
          <a:stretch/>
        </p:blipFill>
        <p:spPr>
          <a:xfrm rot="191927" flipH="1">
            <a:off x="8639174" y="3370954"/>
            <a:ext cx="3304033" cy="3639445"/>
          </a:xfrm>
          <a:prstGeom prst="rtTriangle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6305551" y="3449955"/>
            <a:ext cx="38481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smtClean="0">
                <a:solidFill>
                  <a:schemeClr val="accent1"/>
                </a:solidFill>
                <a:latin typeface="Consolas" panose="020B0609020204030204" pitchFamily="49" charset="0"/>
              </a:rPr>
              <a:t>Al final de la sesión, tendrás una base sólida de las funciones más comunes de </a:t>
            </a:r>
            <a:r>
              <a:rPr lang="es-MX" dirty="0" err="1" smtClean="0">
                <a:solidFill>
                  <a:schemeClr val="accent1"/>
                </a:solidFill>
                <a:latin typeface="Consolas" panose="020B0609020204030204" pitchFamily="49" charset="0"/>
              </a:rPr>
              <a:t>dplyr</a:t>
            </a:r>
            <a:r>
              <a:rPr lang="es-MX" dirty="0" smtClean="0">
                <a:solidFill>
                  <a:schemeClr val="accent1"/>
                </a:solidFill>
                <a:latin typeface="Consolas" panose="020B0609020204030204" pitchFamily="49" charset="0"/>
              </a:rPr>
              <a:t>. Podrás codificar variables a partir de un catálogo y generar tablas resumen agrupando por múltiples variables. </a:t>
            </a:r>
            <a:endParaRPr lang="es-MX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1512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3031331"/>
            <a:ext cx="9144000" cy="795338"/>
          </a:xfrm>
        </p:spPr>
        <p:txBody>
          <a:bodyPr>
            <a:normAutofit fontScale="90000"/>
          </a:bodyPr>
          <a:lstStyle/>
          <a:p>
            <a:r>
              <a:rPr lang="es-MX" dirty="0" smtClean="0">
                <a:latin typeface="Consolas" panose="020B0609020204030204" pitchFamily="49" charset="0"/>
              </a:rPr>
              <a:t>Entorno</a:t>
            </a:r>
            <a:endParaRPr lang="es-MX" dirty="0">
              <a:latin typeface="Consolas" panose="020B0609020204030204" pitchFamily="49" charset="0"/>
            </a:endParaRP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452"/>
          <a:stretch/>
        </p:blipFill>
        <p:spPr>
          <a:xfrm>
            <a:off x="10364723" y="5827775"/>
            <a:ext cx="1646302" cy="89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737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8D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3600" b="1" dirty="0" smtClean="0">
                <a:latin typeface="Consolas" panose="020B0609020204030204" pitchFamily="49" charset="0"/>
              </a:rPr>
              <a:t>Juntándolo todo: Flujo de trabajo real</a:t>
            </a:r>
            <a:endParaRPr lang="es-MX" sz="3600" b="1" i="1" dirty="0">
              <a:latin typeface="Consolas" panose="020B0609020204030204" pitchFamily="49" charset="0"/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422400"/>
            <a:ext cx="10718800" cy="4978400"/>
          </a:xfrm>
        </p:spPr>
        <p:txBody>
          <a:bodyPr>
            <a:normAutofit/>
          </a:bodyPr>
          <a:lstStyle/>
          <a:p>
            <a:r>
              <a:rPr lang="es-MX" i="1" dirty="0" err="1" smtClean="0">
                <a:latin typeface="Consolas" panose="020B0609020204030204" pitchFamily="49" charset="0"/>
              </a:rPr>
              <a:t>Recap</a:t>
            </a:r>
            <a:r>
              <a:rPr lang="es-MX" dirty="0" smtClean="0">
                <a:latin typeface="Consolas" panose="020B0609020204030204" pitchFamily="49" charset="0"/>
              </a:rPr>
              <a:t>: </a:t>
            </a:r>
          </a:p>
          <a:p>
            <a:pPr lvl="1"/>
            <a:r>
              <a:rPr lang="es-MX" b="1" dirty="0" smtClean="0">
                <a:solidFill>
                  <a:schemeClr val="accent1"/>
                </a:solidFill>
                <a:latin typeface="Consolas" panose="020B0609020204030204" pitchFamily="49" charset="0"/>
              </a:rPr>
              <a:t>Cargamos</a:t>
            </a:r>
            <a:r>
              <a:rPr lang="es-MX" dirty="0" smtClean="0">
                <a:solidFill>
                  <a:schemeClr val="accent1"/>
                </a:solidFill>
                <a:latin typeface="Consolas" panose="020B0609020204030204" pitchFamily="49" charset="0"/>
              </a:rPr>
              <a:t> </a:t>
            </a:r>
            <a:r>
              <a:rPr lang="es-MX" dirty="0" smtClean="0">
                <a:latin typeface="Consolas" panose="020B0609020204030204" pitchFamily="49" charset="0"/>
              </a:rPr>
              <a:t>la base</a:t>
            </a:r>
          </a:p>
          <a:p>
            <a:pPr lvl="1"/>
            <a:r>
              <a:rPr lang="es-MX" b="1" dirty="0" smtClean="0">
                <a:solidFill>
                  <a:schemeClr val="accent1">
                    <a:lumMod val="90000"/>
                  </a:schemeClr>
                </a:solidFill>
                <a:latin typeface="Consolas" panose="020B0609020204030204" pitchFamily="49" charset="0"/>
              </a:rPr>
              <a:t>Filtramos</a:t>
            </a:r>
            <a:r>
              <a:rPr lang="es-MX" dirty="0" smtClean="0">
                <a:latin typeface="Consolas" panose="020B0609020204030204" pitchFamily="49" charset="0"/>
              </a:rPr>
              <a:t> por año y tipo de delito</a:t>
            </a:r>
          </a:p>
          <a:p>
            <a:pPr lvl="1"/>
            <a:r>
              <a:rPr lang="es-MX" b="1" dirty="0" smtClean="0">
                <a:solidFill>
                  <a:schemeClr val="accent1"/>
                </a:solidFill>
                <a:latin typeface="Consolas" panose="020B0609020204030204" pitchFamily="49" charset="0"/>
              </a:rPr>
              <a:t>Codificamos </a:t>
            </a:r>
            <a:r>
              <a:rPr lang="es-MX" b="1" dirty="0" smtClean="0">
                <a:latin typeface="Consolas" panose="020B0609020204030204" pitchFamily="49" charset="0"/>
              </a:rPr>
              <a:t>regiones</a:t>
            </a:r>
            <a:endParaRPr lang="es-MX" dirty="0" smtClean="0">
              <a:latin typeface="Consolas" panose="020B0609020204030204" pitchFamily="49" charset="0"/>
            </a:endParaRPr>
          </a:p>
          <a:p>
            <a:pPr lvl="1"/>
            <a:r>
              <a:rPr lang="es-MX" b="1" dirty="0" smtClean="0">
                <a:solidFill>
                  <a:schemeClr val="accent1"/>
                </a:solidFill>
                <a:latin typeface="Consolas" panose="020B0609020204030204" pitchFamily="49" charset="0"/>
              </a:rPr>
              <a:t>Creamos</a:t>
            </a:r>
            <a:r>
              <a:rPr lang="es-MX" dirty="0" smtClean="0">
                <a:latin typeface="Consolas" panose="020B0609020204030204" pitchFamily="49" charset="0"/>
              </a:rPr>
              <a:t> tabla </a:t>
            </a:r>
            <a:r>
              <a:rPr lang="es-MX" smtClean="0">
                <a:latin typeface="Consolas" panose="020B0609020204030204" pitchFamily="49" charset="0"/>
              </a:rPr>
              <a:t>agregada </a:t>
            </a:r>
          </a:p>
          <a:p>
            <a:r>
              <a:rPr lang="es-MX" smtClean="0">
                <a:solidFill>
                  <a:schemeClr val="accent2"/>
                </a:solidFill>
                <a:latin typeface="Consolas" panose="020B0609020204030204" pitchFamily="49" charset="0"/>
              </a:rPr>
              <a:t>¿</a:t>
            </a:r>
            <a:r>
              <a:rPr lang="es-MX" dirty="0" smtClean="0">
                <a:solidFill>
                  <a:schemeClr val="accent2"/>
                </a:solidFill>
                <a:latin typeface="Consolas" panose="020B0609020204030204" pitchFamily="49" charset="0"/>
              </a:rPr>
              <a:t>Cómo convertimos ese proceso en un flujo ágil y replicable?</a:t>
            </a:r>
          </a:p>
          <a:p>
            <a:pPr lvl="1"/>
            <a:r>
              <a:rPr lang="es-MX" dirty="0" smtClean="0">
                <a:latin typeface="Consolas" panose="020B0609020204030204" pitchFamily="49" charset="0"/>
              </a:rPr>
              <a:t>Exploración != pipeline</a:t>
            </a:r>
          </a:p>
          <a:p>
            <a:pPr lvl="1"/>
            <a:r>
              <a:rPr lang="es-MX" dirty="0" smtClean="0">
                <a:latin typeface="Consolas" panose="020B0609020204030204" pitchFamily="49" charset="0"/>
              </a:rPr>
              <a:t>Consistencia de entradas y salidas</a:t>
            </a:r>
          </a:p>
          <a:p>
            <a:pPr lvl="1"/>
            <a:r>
              <a:rPr lang="es-MX" dirty="0" smtClean="0">
                <a:latin typeface="Consolas" panose="020B0609020204030204" pitchFamily="49" charset="0"/>
              </a:rPr>
              <a:t>Economizar memoria</a:t>
            </a:r>
          </a:p>
          <a:p>
            <a:pPr lvl="1"/>
            <a:r>
              <a:rPr lang="es-MX" dirty="0" smtClean="0">
                <a:latin typeface="Consolas" panose="020B0609020204030204" pitchFamily="49" charset="0"/>
              </a:rPr>
              <a:t>Balance minimalismo-legibilidad</a:t>
            </a:r>
            <a:endParaRPr lang="es-MX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4762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3031331"/>
            <a:ext cx="9144000" cy="795338"/>
          </a:xfrm>
        </p:spPr>
        <p:txBody>
          <a:bodyPr>
            <a:normAutofit fontScale="90000"/>
          </a:bodyPr>
          <a:lstStyle/>
          <a:p>
            <a:r>
              <a:rPr lang="es-MX" dirty="0" smtClean="0">
                <a:latin typeface="Consolas" panose="020B0609020204030204" pitchFamily="49" charset="0"/>
              </a:rPr>
              <a:t>Flujo de trabajo completo</a:t>
            </a:r>
            <a:endParaRPr lang="es-MX" i="1" dirty="0">
              <a:latin typeface="Consolas" panose="020B0609020204030204" pitchFamily="49" charset="0"/>
            </a:endParaRP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452"/>
          <a:stretch/>
        </p:blipFill>
        <p:spPr>
          <a:xfrm>
            <a:off x="10364723" y="5827775"/>
            <a:ext cx="1646302" cy="89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597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Paleta_Mafer">
      <a:dk1>
        <a:srgbClr val="F2F2F2"/>
      </a:dk1>
      <a:lt1>
        <a:srgbClr val="3F3F3F"/>
      </a:lt1>
      <a:dk2>
        <a:srgbClr val="7F7F7F"/>
      </a:dk2>
      <a:lt2>
        <a:srgbClr val="E7E6E6"/>
      </a:lt2>
      <a:accent1>
        <a:srgbClr val="FFF79D"/>
      </a:accent1>
      <a:accent2>
        <a:srgbClr val="FF9A95"/>
      </a:accent2>
      <a:accent3>
        <a:srgbClr val="A78EC8"/>
      </a:accent3>
      <a:accent4>
        <a:srgbClr val="2EBCEE"/>
      </a:accent4>
      <a:accent5>
        <a:srgbClr val="4472C4"/>
      </a:accent5>
      <a:accent6>
        <a:srgbClr val="EBDAE2"/>
      </a:accent6>
      <a:hlink>
        <a:srgbClr val="C5E0B3"/>
      </a:hlink>
      <a:folHlink>
        <a:srgbClr val="FEE599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465</TotalTime>
  <Words>125</Words>
  <Application>Microsoft Office PowerPoint</Application>
  <PresentationFormat>Panorámica</PresentationFormat>
  <Paragraphs>28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Consolas</vt:lpstr>
      <vt:lpstr>Tema de Office</vt:lpstr>
      <vt:lpstr>Introducción a R</vt:lpstr>
      <vt:lpstr>Objetivos del día</vt:lpstr>
      <vt:lpstr>Entorno</vt:lpstr>
      <vt:lpstr>Juntándolo todo: Flujo de trabajo real</vt:lpstr>
      <vt:lpstr>Flujo de trabajo completo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Introducción a R</dc:title>
  <dc:creator>user</dc:creator>
  <cp:lastModifiedBy>user</cp:lastModifiedBy>
  <cp:revision>29</cp:revision>
  <dcterms:created xsi:type="dcterms:W3CDTF">2025-12-13T08:20:06Z</dcterms:created>
  <dcterms:modified xsi:type="dcterms:W3CDTF">2025-12-19T02:41:47Z</dcterms:modified>
</cp:coreProperties>
</file>