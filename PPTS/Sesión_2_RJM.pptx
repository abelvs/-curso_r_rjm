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7" r:id="rId5"/>
    <p:sldId id="268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13/12/2025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Introducción a R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Sesión </a:t>
            </a:r>
            <a:r>
              <a:rPr lang="es-MX" dirty="0" smtClean="0">
                <a:solidFill>
                  <a:schemeClr val="bg2"/>
                </a:solidFill>
                <a:latin typeface="Consolas" panose="020B0609020204030204" pitchFamily="49" charset="0"/>
              </a:rPr>
              <a:t>2</a:t>
            </a:r>
            <a:endParaRPr lang="es-MX" dirty="0">
              <a:solidFill>
                <a:schemeClr val="bg2"/>
              </a:solidFill>
              <a:latin typeface="Consolas" panose="020B0609020204030204" pitchFamily="49" charset="0"/>
            </a:endParaRP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nsolas" panose="020B0609020204030204" pitchFamily="49" charset="0"/>
              </a:rPr>
              <a:t>Objetivos del día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Recap</a:t>
            </a: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: Manipulación básica</a:t>
            </a: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Filter</a:t>
            </a:r>
            <a:r>
              <a:rPr lang="es-MX" sz="1800" dirty="0" smtClean="0">
                <a:latin typeface="Consolas" panose="020B0609020204030204" pitchFamily="49" charset="0"/>
              </a:rPr>
              <a:t>(), </a:t>
            </a:r>
            <a:r>
              <a:rPr lang="es-MX" sz="1800" dirty="0" err="1" smtClean="0">
                <a:latin typeface="Consolas" panose="020B0609020204030204" pitchFamily="49" charset="0"/>
              </a:rPr>
              <a:t>mutate</a:t>
            </a:r>
            <a:r>
              <a:rPr lang="es-MX" sz="1800" dirty="0" smtClean="0">
                <a:latin typeface="Consolas" panose="020B0609020204030204" pitchFamily="49" charset="0"/>
              </a:rPr>
              <a:t>(), </a:t>
            </a:r>
            <a:r>
              <a:rPr lang="es-MX" sz="1800" dirty="0" err="1" smtClean="0">
                <a:latin typeface="Consolas" panose="020B0609020204030204" pitchFamily="49" charset="0"/>
              </a:rPr>
              <a:t>select</a:t>
            </a:r>
            <a:r>
              <a:rPr lang="es-MX" sz="1800" dirty="0" smtClean="0">
                <a:latin typeface="Consolas" panose="020B0609020204030204" pitchFamily="49" charset="0"/>
              </a:rPr>
              <a:t>(), </a:t>
            </a:r>
            <a:r>
              <a:rPr lang="es-MX" sz="1800" dirty="0" err="1" smtClean="0">
                <a:latin typeface="Consolas" panose="020B0609020204030204" pitchFamily="49" charset="0"/>
              </a:rPr>
              <a:t>group_by</a:t>
            </a:r>
            <a:r>
              <a:rPr lang="es-MX" sz="1800" dirty="0" smtClean="0">
                <a:latin typeface="Consolas" panose="020B0609020204030204" pitchFamily="49" charset="0"/>
              </a:rPr>
              <a:t>()</a:t>
            </a:r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Entorno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Repo </a:t>
            </a:r>
            <a:r>
              <a:rPr lang="es-MX" sz="1800" dirty="0" err="1" smtClean="0">
                <a:latin typeface="Consolas" panose="020B0609020204030204" pitchFamily="49" charset="0"/>
              </a:rPr>
              <a:t>Github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 smtClean="0">
                <a:solidFill>
                  <a:schemeClr val="accent2"/>
                </a:solidFill>
                <a:latin typeface="Consolas" panose="020B0609020204030204" pitchFamily="49" charset="0"/>
              </a:rPr>
              <a:t>Tidyverse</a:t>
            </a:r>
            <a:endParaRPr lang="es-MX" sz="2000" b="1" i="1" dirty="0" smtClean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Joins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r>
              <a:rPr lang="es-MX" sz="1800" dirty="0" err="1" smtClean="0">
                <a:latin typeface="Consolas" panose="020B0609020204030204" pitchFamily="49" charset="0"/>
              </a:rPr>
              <a:t>Group</a:t>
            </a:r>
            <a:r>
              <a:rPr lang="es-MX" sz="1800" dirty="0" smtClean="0">
                <a:latin typeface="Consolas" panose="020B0609020204030204" pitchFamily="49" charset="0"/>
              </a:rPr>
              <a:t> </a:t>
            </a:r>
            <a:r>
              <a:rPr lang="es-MX" sz="1800" dirty="0" err="1" smtClean="0">
                <a:latin typeface="Consolas" panose="020B0609020204030204" pitchFamily="49" charset="0"/>
              </a:rPr>
              <a:t>by</a:t>
            </a:r>
            <a:r>
              <a:rPr lang="es-MX" sz="1800" dirty="0" smtClean="0">
                <a:latin typeface="Consolas" panose="020B0609020204030204" pitchFamily="49" charset="0"/>
              </a:rPr>
              <a:t> </a:t>
            </a:r>
            <a:r>
              <a:rPr lang="es-MX" sz="1800" dirty="0" err="1" smtClean="0">
                <a:latin typeface="Consolas" panose="020B0609020204030204" pitchFamily="49" charset="0"/>
              </a:rPr>
              <a:t>multiples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Pivoteo</a:t>
            </a:r>
            <a:endParaRPr lang="es-MX" sz="1800" dirty="0" smtClean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Flujo de trabajo completo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Diseño de </a:t>
            </a:r>
            <a:r>
              <a:rPr lang="es-MX" sz="1800" i="1" dirty="0">
                <a:latin typeface="Consolas" panose="020B0609020204030204" pitchFamily="49" charset="0"/>
              </a:rPr>
              <a:t>pipeline</a:t>
            </a:r>
          </a:p>
          <a:p>
            <a:pPr lvl="1"/>
            <a:r>
              <a:rPr lang="es-MX" sz="1800" dirty="0" smtClean="0">
                <a:latin typeface="Consolas" panose="020B0609020204030204" pitchFamily="49" charset="0"/>
              </a:rPr>
              <a:t>Reproductibilidad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305551" y="3449955"/>
            <a:ext cx="3848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tendrás una base sólida de las funciones más comunes de </a:t>
            </a:r>
            <a:r>
              <a:rPr lang="es-MX" dirty="0" err="1" smtClean="0">
                <a:solidFill>
                  <a:schemeClr val="accent1"/>
                </a:solidFill>
                <a:latin typeface="Consolas" panose="020B0609020204030204" pitchFamily="49" charset="0"/>
              </a:rPr>
              <a:t>dplyr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. Podrás codificar variables a partir de un catálogo y generar tablas resumen agrupando por múltiples variables. </a:t>
            </a: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Entorno</a:t>
            </a:r>
            <a:endParaRPr lang="es-MX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73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b="1" dirty="0" smtClean="0">
                <a:latin typeface="Consolas" panose="020B0609020204030204" pitchFamily="49" charset="0"/>
              </a:rPr>
              <a:t>Juntándolo todo: Flujo de trabajo real</a:t>
            </a:r>
            <a:endParaRPr lang="es-MX" sz="3600" b="1" i="1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422400"/>
            <a:ext cx="10718800" cy="4978400"/>
          </a:xfrm>
        </p:spPr>
        <p:txBody>
          <a:bodyPr>
            <a:normAutofit/>
          </a:bodyPr>
          <a:lstStyle/>
          <a:p>
            <a:r>
              <a:rPr lang="es-MX" i="1" dirty="0" err="1" smtClean="0">
                <a:latin typeface="Consolas" panose="020B0609020204030204" pitchFamily="49" charset="0"/>
              </a:rPr>
              <a:t>Recap</a:t>
            </a:r>
            <a:r>
              <a:rPr lang="es-MX" dirty="0" smtClean="0">
                <a:latin typeface="Consolas" panose="020B0609020204030204" pitchFamily="49" charset="0"/>
              </a:rPr>
              <a:t>: </a:t>
            </a: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Cargamos</a:t>
            </a:r>
            <a:r>
              <a:rPr lang="es-MX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 smtClean="0">
                <a:latin typeface="Consolas" panose="020B0609020204030204" pitchFamily="49" charset="0"/>
              </a:rPr>
              <a:t>la base</a:t>
            </a:r>
          </a:p>
          <a:p>
            <a:pPr lvl="1"/>
            <a:r>
              <a:rPr lang="es-MX" b="1" dirty="0" smtClean="0">
                <a:solidFill>
                  <a:schemeClr val="accent1">
                    <a:lumMod val="90000"/>
                  </a:schemeClr>
                </a:solidFill>
                <a:latin typeface="Consolas" panose="020B0609020204030204" pitchFamily="49" charset="0"/>
              </a:rPr>
              <a:t>Filtramos</a:t>
            </a:r>
            <a:r>
              <a:rPr lang="es-MX" dirty="0" smtClean="0">
                <a:latin typeface="Consolas" panose="020B0609020204030204" pitchFamily="49" charset="0"/>
              </a:rPr>
              <a:t> po</a:t>
            </a:r>
            <a:r>
              <a:rPr lang="es-MX" dirty="0" smtClean="0">
                <a:latin typeface="Consolas" panose="020B0609020204030204" pitchFamily="49" charset="0"/>
              </a:rPr>
              <a:t>r año y tipo de delito</a:t>
            </a:r>
            <a:endParaRPr lang="es-MX" dirty="0" smtClean="0">
              <a:latin typeface="Consolas" panose="020B0609020204030204" pitchFamily="49" charset="0"/>
            </a:endParaRP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Codificamos </a:t>
            </a:r>
            <a:r>
              <a:rPr lang="es-MX" b="1" dirty="0" smtClean="0">
                <a:latin typeface="Consolas" panose="020B0609020204030204" pitchFamily="49" charset="0"/>
              </a:rPr>
              <a:t>regiones</a:t>
            </a:r>
            <a:endParaRPr lang="es-MX" dirty="0" smtClean="0">
              <a:latin typeface="Consolas" panose="020B0609020204030204" pitchFamily="49" charset="0"/>
            </a:endParaRPr>
          </a:p>
          <a:p>
            <a:pPr lvl="1"/>
            <a:r>
              <a:rPr lang="es-MX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Creamos</a:t>
            </a:r>
            <a:r>
              <a:rPr lang="es-MX" dirty="0" smtClean="0">
                <a:latin typeface="Consolas" panose="020B0609020204030204" pitchFamily="49" charset="0"/>
              </a:rPr>
              <a:t> </a:t>
            </a:r>
            <a:r>
              <a:rPr lang="es-MX" dirty="0" smtClean="0">
                <a:latin typeface="Consolas" panose="020B0609020204030204" pitchFamily="49" charset="0"/>
              </a:rPr>
              <a:t>tabla </a:t>
            </a:r>
            <a:r>
              <a:rPr lang="es-MX" smtClean="0">
                <a:latin typeface="Consolas" panose="020B0609020204030204" pitchFamily="49" charset="0"/>
              </a:rPr>
              <a:t>agregada </a:t>
            </a:r>
            <a:endParaRPr lang="es-MX" smtClean="0">
              <a:latin typeface="Consolas" panose="020B0609020204030204" pitchFamily="49" charset="0"/>
            </a:endParaRPr>
          </a:p>
          <a:p>
            <a:r>
              <a:rPr lang="es-MX" smtClean="0">
                <a:solidFill>
                  <a:schemeClr val="accent2"/>
                </a:solidFill>
                <a:latin typeface="Consolas" panose="020B0609020204030204" pitchFamily="49" charset="0"/>
              </a:rPr>
              <a:t>¿</a:t>
            </a:r>
            <a:r>
              <a:rPr lang="es-MX" dirty="0" smtClean="0">
                <a:solidFill>
                  <a:schemeClr val="accent2"/>
                </a:solidFill>
                <a:latin typeface="Consolas" panose="020B0609020204030204" pitchFamily="49" charset="0"/>
              </a:rPr>
              <a:t>Cómo convertimos ese proceso en un flujo ágil y replicable?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Exploración != pipeline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Consistencia de entradas y salidas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Economizar memoria</a:t>
            </a:r>
          </a:p>
          <a:p>
            <a:pPr lvl="1"/>
            <a:r>
              <a:rPr lang="es-MX" dirty="0" smtClean="0">
                <a:latin typeface="Consolas" panose="020B0609020204030204" pitchFamily="49" charset="0"/>
              </a:rPr>
              <a:t>Balance minimalismo-legibilidad</a:t>
            </a:r>
            <a:endParaRPr lang="es-MX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476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3031331"/>
            <a:ext cx="9144000" cy="795338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latin typeface="Consolas" panose="020B0609020204030204" pitchFamily="49" charset="0"/>
              </a:rPr>
              <a:t>Flujo de trabajo completo</a:t>
            </a:r>
            <a:endParaRPr lang="es-MX" i="1" dirty="0">
              <a:latin typeface="Consolas" panose="020B0609020204030204" pitchFamily="49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452"/>
          <a:stretch/>
        </p:blipFill>
        <p:spPr>
          <a:xfrm>
            <a:off x="10364723" y="5827775"/>
            <a:ext cx="1646302" cy="89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97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125</Words>
  <Application>Microsoft Office PowerPoint</Application>
  <PresentationFormat>Panorámica</PresentationFormat>
  <Paragraphs>28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Tema de Office</vt:lpstr>
      <vt:lpstr>Introducción a R</vt:lpstr>
      <vt:lpstr>Objetivos del día</vt:lpstr>
      <vt:lpstr>Entorno</vt:lpstr>
      <vt:lpstr>Juntándolo todo: Flujo de trabajo real</vt:lpstr>
      <vt:lpstr>Flujo de trabajo completo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user</cp:lastModifiedBy>
  <cp:revision>29</cp:revision>
  <dcterms:created xsi:type="dcterms:W3CDTF">2025-12-13T08:20:06Z</dcterms:created>
  <dcterms:modified xsi:type="dcterms:W3CDTF">2025-12-13T16:16:47Z</dcterms:modified>
</cp:coreProperties>
</file>